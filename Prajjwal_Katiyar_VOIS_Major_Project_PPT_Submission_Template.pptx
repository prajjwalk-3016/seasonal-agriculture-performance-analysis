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2"/>
  </p:notesMasterIdLst>
  <p:handoutMasterIdLst>
    <p:handoutMasterId r:id="rId23"/>
  </p:handoutMasterIdLst>
  <p:sldIdLst>
    <p:sldId id="338" r:id="rId5"/>
    <p:sldId id="327" r:id="rId6"/>
    <p:sldId id="315" r:id="rId7"/>
    <p:sldId id="329" r:id="rId8"/>
    <p:sldId id="302" r:id="rId9"/>
    <p:sldId id="339" r:id="rId10"/>
    <p:sldId id="340" r:id="rId11"/>
    <p:sldId id="344" r:id="rId12"/>
    <p:sldId id="345" r:id="rId13"/>
    <p:sldId id="346" r:id="rId14"/>
    <p:sldId id="349" r:id="rId15"/>
    <p:sldId id="347" r:id="rId16"/>
    <p:sldId id="348" r:id="rId17"/>
    <p:sldId id="341" r:id="rId18"/>
    <p:sldId id="342" r:id="rId19"/>
    <p:sldId id="343" r:id="rId20"/>
    <p:sldId id="30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rajjwal katiyar" initials="pk" lastIdx="1" clrIdx="0">
    <p:extLst>
      <p:ext uri="{19B8F6BF-5375-455C-9EA6-DF929625EA0E}">
        <p15:presenceInfo xmlns:p15="http://schemas.microsoft.com/office/powerpoint/2012/main" userId="8b729483f182a93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71" d="100"/>
          <a:sy n="71" d="100"/>
        </p:scale>
        <p:origin x="612" y="78"/>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70647" y="3364810"/>
            <a:ext cx="9950823" cy="1253033"/>
          </a:xfrm>
        </p:spPr>
        <p:txBody>
          <a:bodyPr vert="horz" lIns="91440" tIns="45720" rIns="91440" bIns="45720" rtlCol="0" anchor="t">
            <a:noAutofit/>
          </a:bodyPr>
          <a:lstStyle/>
          <a:p>
            <a:r>
              <a:rPr lang="en-US" dirty="0">
                <a:solidFill>
                  <a:schemeClr val="tx1"/>
                </a:solidFill>
              </a:rPr>
              <a:t>[</a:t>
            </a:r>
            <a:r>
              <a:rPr lang="en-US">
                <a:solidFill>
                  <a:schemeClr val="tx1"/>
                </a:solidFill>
              </a:rPr>
              <a:t>Student Name- PRAJJWAL </a:t>
            </a:r>
            <a:r>
              <a:rPr lang="en-US" dirty="0">
                <a:solidFill>
                  <a:schemeClr val="tx1"/>
                </a:solidFill>
              </a:rPr>
              <a:t>KATIYAR </a:t>
            </a:r>
            <a:endParaRPr lang="en-IN" dirty="0">
              <a:solidFill>
                <a:schemeClr val="tx1"/>
              </a:solidFill>
            </a:endParaRPr>
          </a:p>
          <a:p>
            <a:r>
              <a:rPr lang="en-US" dirty="0">
                <a:solidFill>
                  <a:schemeClr val="tx1"/>
                </a:solidFill>
              </a:rPr>
              <a:t>College Name-DELHI TECHNICAL CAMPUS , GURU GOIND SINGH INDRAPRASTHA UNIVERSITY]</a:t>
            </a:r>
            <a:endParaRPr lang="en-IN"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5957" y="2596570"/>
            <a:ext cx="9743107" cy="743448"/>
          </a:xfrm>
        </p:spPr>
        <p:txBody>
          <a:bodyPr>
            <a:normAutofit fontScale="90000"/>
          </a:bodyPr>
          <a:lstStyle/>
          <a:p>
            <a:r>
              <a:rPr lang="en-GB" sz="3200" dirty="0"/>
              <a:t>Project Title - </a:t>
            </a:r>
            <a:r>
              <a:rPr lang="en-IN" sz="3200" dirty="0"/>
              <a:t>Seasonal Agriculture Performance Analysis </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470647" y="4824763"/>
            <a:ext cx="7207624" cy="400110"/>
          </a:xfrm>
          <a:prstGeom prst="rect">
            <a:avLst/>
          </a:prstGeom>
          <a:noFill/>
        </p:spPr>
        <p:txBody>
          <a:bodyPr wrap="square" rtlCol="0">
            <a:spAutoFit/>
          </a:bodyPr>
          <a:lstStyle/>
          <a:p>
            <a:r>
              <a:rPr lang="en-US" sz="2000" b="1" dirty="0"/>
              <a:t>AICTE STU ID : (</a:t>
            </a:r>
            <a:r>
              <a:rPr lang="en-IN" sz="2000" dirty="0"/>
              <a:t>STU6a3034a4bae891781544100</a:t>
            </a:r>
            <a:r>
              <a:rPr lang="en-US" sz="2000" b="1" dirty="0"/>
              <a:t>)</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1376691"/>
            <a:ext cx="7196567" cy="4724096"/>
          </a:xfrm>
        </p:spPr>
        <p:txBody>
          <a:bodyPr vert="horz" lIns="91440" tIns="45720" rIns="91440" bIns="45720" rtlCol="0" anchor="t">
            <a:normAutofit fontScale="62500" lnSpcReduction="20000"/>
          </a:bodyPr>
          <a:lstStyle/>
          <a:p>
            <a:pPr>
              <a:lnSpc>
                <a:spcPct val="150000"/>
              </a:lnSpc>
            </a:pPr>
            <a:r>
              <a:rPr lang="en-IN" sz="2800" dirty="0"/>
              <a:t>(</a:t>
            </a:r>
            <a:r>
              <a:rPr lang="en-US" sz="2800" b="1"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a:t>
            </a:r>
            <a:endParaRPr lang="en-IN" sz="2800" b="1"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467359" y="631246"/>
            <a:ext cx="5973782" cy="1143766"/>
          </a:xfrm>
        </p:spPr>
        <p:txBody>
          <a:bodyPr>
            <a:normAutofit fontScale="90000"/>
          </a:bodyPr>
          <a:lstStyle/>
          <a:p>
            <a:r>
              <a:rPr lang="en-GB" dirty="0"/>
              <a:t>Project Description</a:t>
            </a:r>
            <a:br>
              <a:rPr lang="en-GB" dirty="0"/>
            </a:br>
            <a:r>
              <a:rPr lang="en-GB" dirty="0"/>
              <a:t> </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9" name="Rectangle 4">
            <a:extLst>
              <a:ext uri="{FF2B5EF4-FFF2-40B4-BE49-F238E27FC236}">
                <a16:creationId xmlns:a16="http://schemas.microsoft.com/office/drawing/2014/main" id="{8F0FD7CA-AE03-AA0D-3F2D-BE0CF6132627}"/>
              </a:ext>
            </a:extLst>
          </p:cNvPr>
          <p:cNvSpPr>
            <a:spLocks noChangeArrowheads="1"/>
          </p:cNvSpPr>
          <p:nvPr/>
        </p:nvSpPr>
        <p:spPr bwMode="auto">
          <a:xfrm>
            <a:off x="552524" y="1962762"/>
            <a:ext cx="8932135"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This project is about understanding how agricultural performance changes across different seasons. We analyzed farming data from Kharif, Rabi, and Zaid seasons and looked at factors such as crop yield, production, revenue, profit, water usage, weather conditions, irrigation, and resource usage.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The data was cleaned and analyzed using Python, statistical methods, and visualizations. We compared different seasons, crops, and states to find useful patterns and understand which conditions and practices are associated with better agricultural performance.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The main aim of the project is to use these findings to understand seasonal differences and provide practical insights for better crop planning, efficient use of resources, and improved agricultural decision-making.</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134472" y="1193483"/>
            <a:ext cx="11013140" cy="4983321"/>
          </a:xfrm>
        </p:spPr>
        <p:txBody>
          <a:bodyPr>
            <a:normAutofit/>
          </a:bodyPr>
          <a:lstStyle/>
          <a:p>
            <a:pPr algn="just">
              <a:lnSpc>
                <a:spcPct val="150000"/>
              </a:lnSpc>
            </a:pPr>
            <a:r>
              <a:rPr lang="en-US" sz="2800" b="1" dirty="0"/>
              <a:t>Farmers</a:t>
            </a:r>
            <a:r>
              <a:rPr lang="en-US" sz="2800" dirty="0"/>
              <a:t> – For better seasonal and crop planning.</a:t>
            </a:r>
          </a:p>
          <a:p>
            <a:pPr algn="just">
              <a:lnSpc>
                <a:spcPct val="150000"/>
              </a:lnSpc>
            </a:pPr>
            <a:r>
              <a:rPr lang="en-US" sz="2800" b="1" dirty="0"/>
              <a:t>Agriculture Department and Govt. Organization </a:t>
            </a:r>
            <a:r>
              <a:rPr lang="en-US" sz="2800" dirty="0"/>
              <a:t>– Agriculture planning and for more crop production efficiency.</a:t>
            </a:r>
          </a:p>
          <a:p>
            <a:pPr algn="just">
              <a:lnSpc>
                <a:spcPct val="150000"/>
              </a:lnSpc>
            </a:pPr>
            <a:r>
              <a:rPr lang="en-US" sz="2800" b="1" dirty="0"/>
              <a:t>Researchers and Students </a:t>
            </a:r>
            <a:r>
              <a:rPr lang="en-US" sz="2800" dirty="0"/>
              <a:t>– For analyzing on agriculture data and to find out important insights.</a:t>
            </a:r>
          </a:p>
          <a:p>
            <a:pPr algn="just">
              <a:lnSpc>
                <a:spcPct val="150000"/>
              </a:lnSpc>
            </a:pPr>
            <a:r>
              <a:rPr lang="en-US" sz="2800" b="1" dirty="0"/>
              <a:t>Agriculture Experts </a:t>
            </a:r>
            <a:r>
              <a:rPr lang="en-US" sz="2800" dirty="0"/>
              <a:t>– For seasonal trends and regional performance.</a:t>
            </a:r>
          </a:p>
          <a:p>
            <a:pPr algn="just">
              <a:lnSpc>
                <a:spcPct val="150000"/>
              </a:lnSpc>
            </a:pPr>
            <a:endParaRPr lang="en-US" sz="2800" dirty="0"/>
          </a:p>
          <a:p>
            <a:pPr algn="just">
              <a:lnSpc>
                <a:spcPct val="150000"/>
              </a:lnSpc>
            </a:pPr>
            <a:endParaRPr lang="en-IN" sz="28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525879" y="390842"/>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US" dirty="0"/>
              <a:t>Python – Data analysis and preprocessing.</a:t>
            </a:r>
          </a:p>
          <a:p>
            <a:pPr lvl="1">
              <a:lnSpc>
                <a:spcPct val="150000"/>
              </a:lnSpc>
            </a:pPr>
            <a:r>
              <a:rPr lang="en-US" dirty="0"/>
              <a:t>Pandas – Data cleaning , manipulation and analysis.</a:t>
            </a:r>
          </a:p>
          <a:p>
            <a:pPr lvl="1">
              <a:lnSpc>
                <a:spcPct val="150000"/>
              </a:lnSpc>
            </a:pPr>
            <a:r>
              <a:rPr lang="en-US" dirty="0" err="1"/>
              <a:t>Numpy</a:t>
            </a:r>
            <a:r>
              <a:rPr lang="en-US" dirty="0"/>
              <a:t>  - Numerical calculations and data operations</a:t>
            </a:r>
            <a:r>
              <a:rPr lang="en-IN" dirty="0"/>
              <a:t>.</a:t>
            </a:r>
          </a:p>
          <a:p>
            <a:pPr lvl="1">
              <a:lnSpc>
                <a:spcPct val="150000"/>
              </a:lnSpc>
            </a:pPr>
            <a:r>
              <a:rPr lang="en-IN" dirty="0"/>
              <a:t>Matplotlib  - Creating charts and data visualizations.</a:t>
            </a:r>
          </a:p>
          <a:p>
            <a:pPr lvl="1">
              <a:lnSpc>
                <a:spcPct val="150000"/>
              </a:lnSpc>
            </a:pPr>
            <a:r>
              <a:rPr lang="en-IN" dirty="0"/>
              <a:t>Google </a:t>
            </a:r>
            <a:r>
              <a:rPr lang="en-IN" dirty="0" err="1"/>
              <a:t>Colab</a:t>
            </a:r>
            <a:r>
              <a:rPr lang="en-IN" dirty="0"/>
              <a:t> Notebooks – Project Development and documentation.</a:t>
            </a:r>
          </a:p>
          <a:p>
            <a:pPr lvl="1">
              <a:lnSpc>
                <a:spcPct val="150000"/>
              </a:lnSpc>
            </a:pPr>
            <a:endParaRPr lang="en-US"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CAEADD1A-28F3-042D-5AD7-5D6AD409CDF8}"/>
              </a:ext>
            </a:extLst>
          </p:cNvPr>
          <p:cNvPicPr>
            <a:picLocks noChangeAspect="1"/>
          </p:cNvPicPr>
          <p:nvPr/>
        </p:nvPicPr>
        <p:blipFill>
          <a:blip r:embed="rId3"/>
          <a:stretch>
            <a:fillRect/>
          </a:stretch>
        </p:blipFill>
        <p:spPr>
          <a:xfrm>
            <a:off x="675957" y="1941449"/>
            <a:ext cx="3669737" cy="2530147"/>
          </a:xfrm>
          <a:prstGeom prst="rect">
            <a:avLst/>
          </a:prstGeom>
        </p:spPr>
      </p:pic>
      <p:pic>
        <p:nvPicPr>
          <p:cNvPr id="6" name="Picture 5">
            <a:extLst>
              <a:ext uri="{FF2B5EF4-FFF2-40B4-BE49-F238E27FC236}">
                <a16:creationId xmlns:a16="http://schemas.microsoft.com/office/drawing/2014/main" id="{DDBC3A8A-43C5-74A2-37AC-9ED24E1127B8}"/>
              </a:ext>
            </a:extLst>
          </p:cNvPr>
          <p:cNvPicPr>
            <a:picLocks noChangeAspect="1"/>
          </p:cNvPicPr>
          <p:nvPr/>
        </p:nvPicPr>
        <p:blipFill>
          <a:blip r:embed="rId4"/>
          <a:stretch>
            <a:fillRect/>
          </a:stretch>
        </p:blipFill>
        <p:spPr>
          <a:xfrm>
            <a:off x="4700668" y="910997"/>
            <a:ext cx="6016637" cy="4992262"/>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3ADB2A04-365D-E682-7596-8B69C56CF6D4}"/>
              </a:ext>
            </a:extLst>
          </p:cNvPr>
          <p:cNvSpPr>
            <a:spLocks noGrp="1"/>
          </p:cNvSpPr>
          <p:nvPr>
            <p:ph type="body" sz="quarter" idx="12"/>
          </p:nvPr>
        </p:nvSpPr>
        <p:spPr/>
        <p:txBody>
          <a:bodyPr/>
          <a:lstStyle/>
          <a:p>
            <a:endParaRPr lang="en-IN"/>
          </a:p>
        </p:txBody>
      </p:sp>
      <p:pic>
        <p:nvPicPr>
          <p:cNvPr id="1026" name="Picture 2">
            <a:extLst>
              <a:ext uri="{FF2B5EF4-FFF2-40B4-BE49-F238E27FC236}">
                <a16:creationId xmlns:a16="http://schemas.microsoft.com/office/drawing/2014/main" id="{D7302BC9-7E76-8773-DD0C-61A515AD9B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1729" y="920799"/>
            <a:ext cx="6188889" cy="525140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2AAE711E-D341-61A5-03DE-E7F59CF22B1D}"/>
              </a:ext>
            </a:extLst>
          </p:cNvPr>
          <p:cNvPicPr>
            <a:picLocks noChangeAspect="1"/>
          </p:cNvPicPr>
          <p:nvPr/>
        </p:nvPicPr>
        <p:blipFill>
          <a:blip r:embed="rId4"/>
          <a:stretch>
            <a:fillRect/>
          </a:stretch>
        </p:blipFill>
        <p:spPr>
          <a:xfrm>
            <a:off x="197836" y="1178242"/>
            <a:ext cx="5490270" cy="5128429"/>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050" name="Picture 2">
            <a:extLst>
              <a:ext uri="{FF2B5EF4-FFF2-40B4-BE49-F238E27FC236}">
                <a16:creationId xmlns:a16="http://schemas.microsoft.com/office/drawing/2014/main" id="{DBC08B22-FA9C-D4A8-E880-606160FC0A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96012" y="712694"/>
            <a:ext cx="6065954" cy="575922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BFE86616-078C-E99F-2107-F400CF6F7C32}"/>
              </a:ext>
            </a:extLst>
          </p:cNvPr>
          <p:cNvPicPr>
            <a:picLocks noChangeAspect="1"/>
          </p:cNvPicPr>
          <p:nvPr/>
        </p:nvPicPr>
        <p:blipFill>
          <a:blip r:embed="rId4"/>
          <a:stretch>
            <a:fillRect/>
          </a:stretch>
        </p:blipFill>
        <p:spPr>
          <a:xfrm>
            <a:off x="127231" y="1201585"/>
            <a:ext cx="5076781" cy="5270333"/>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82900" y="393377"/>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074" name="Picture 2">
            <a:extLst>
              <a:ext uri="{FF2B5EF4-FFF2-40B4-BE49-F238E27FC236}">
                <a16:creationId xmlns:a16="http://schemas.microsoft.com/office/drawing/2014/main" id="{28442449-288F-2FA9-B716-CC0D464FBA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3878" y="718858"/>
            <a:ext cx="6137140" cy="575306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F3C950F3-3788-06B2-F84E-FA50B72B22B9}"/>
              </a:ext>
            </a:extLst>
          </p:cNvPr>
          <p:cNvPicPr>
            <a:picLocks noChangeAspect="1"/>
          </p:cNvPicPr>
          <p:nvPr/>
        </p:nvPicPr>
        <p:blipFill>
          <a:blip r:embed="rId4"/>
          <a:stretch>
            <a:fillRect/>
          </a:stretch>
        </p:blipFill>
        <p:spPr>
          <a:xfrm>
            <a:off x="177597" y="1224373"/>
            <a:ext cx="5308803" cy="4961273"/>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461332B0-3CBF-6556-E50A-43582BE97F86}"/>
              </a:ext>
            </a:extLst>
          </p:cNvPr>
          <p:cNvPicPr>
            <a:picLocks noChangeAspect="1"/>
          </p:cNvPicPr>
          <p:nvPr/>
        </p:nvPicPr>
        <p:blipFill>
          <a:blip r:embed="rId3"/>
          <a:stretch>
            <a:fillRect/>
          </a:stretch>
        </p:blipFill>
        <p:spPr>
          <a:xfrm>
            <a:off x="5502584" y="370589"/>
            <a:ext cx="6615952" cy="6355792"/>
          </a:xfrm>
          <a:prstGeom prst="rect">
            <a:avLst/>
          </a:prstGeom>
        </p:spPr>
      </p:pic>
      <p:pic>
        <p:nvPicPr>
          <p:cNvPr id="13" name="Picture 12">
            <a:extLst>
              <a:ext uri="{FF2B5EF4-FFF2-40B4-BE49-F238E27FC236}">
                <a16:creationId xmlns:a16="http://schemas.microsoft.com/office/drawing/2014/main" id="{A66F0602-655A-E80A-B319-A608979F2373}"/>
              </a:ext>
            </a:extLst>
          </p:cNvPr>
          <p:cNvPicPr>
            <a:picLocks noChangeAspect="1"/>
          </p:cNvPicPr>
          <p:nvPr/>
        </p:nvPicPr>
        <p:blipFill>
          <a:blip r:embed="rId4"/>
          <a:stretch>
            <a:fillRect/>
          </a:stretch>
        </p:blipFill>
        <p:spPr>
          <a:xfrm>
            <a:off x="187271" y="1366773"/>
            <a:ext cx="5070529" cy="5105147"/>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5E94044-0991-BA7A-076C-4CDFB2B3D372}"/>
              </a:ext>
            </a:extLst>
          </p:cNvPr>
          <p:cNvSpPr>
            <a:spLocks noGrp="1"/>
          </p:cNvSpPr>
          <p:nvPr>
            <p:ph type="sldNum" sz="quarter" idx="12"/>
          </p:nvPr>
        </p:nvSpPr>
        <p:spPr/>
        <p:txBody>
          <a:bodyPr/>
          <a:lstStyle/>
          <a:p>
            <a:fld id="{D57F1E4F-1CFF-5643-939E-217C01CDF565}" type="slidenum">
              <a:rPr lang="en-US" smtClean="0"/>
              <a:pPr/>
              <a:t>11</a:t>
            </a:fld>
            <a:endParaRPr lang="en-US" dirty="0"/>
          </a:p>
        </p:txBody>
      </p:sp>
      <p:pic>
        <p:nvPicPr>
          <p:cNvPr id="6" name="Picture 5">
            <a:extLst>
              <a:ext uri="{FF2B5EF4-FFF2-40B4-BE49-F238E27FC236}">
                <a16:creationId xmlns:a16="http://schemas.microsoft.com/office/drawing/2014/main" id="{2C6362BB-127E-0702-B0E5-7652AD9F92FD}"/>
              </a:ext>
            </a:extLst>
          </p:cNvPr>
          <p:cNvPicPr>
            <a:picLocks noChangeAspect="1"/>
          </p:cNvPicPr>
          <p:nvPr/>
        </p:nvPicPr>
        <p:blipFill>
          <a:blip r:embed="rId2"/>
          <a:stretch>
            <a:fillRect/>
          </a:stretch>
        </p:blipFill>
        <p:spPr>
          <a:xfrm>
            <a:off x="116503" y="1036318"/>
            <a:ext cx="4563112" cy="5714105"/>
          </a:xfrm>
          <a:prstGeom prst="rect">
            <a:avLst/>
          </a:prstGeom>
        </p:spPr>
      </p:pic>
      <p:pic>
        <p:nvPicPr>
          <p:cNvPr id="6146" name="Picture 2">
            <a:extLst>
              <a:ext uri="{FF2B5EF4-FFF2-40B4-BE49-F238E27FC236}">
                <a16:creationId xmlns:a16="http://schemas.microsoft.com/office/drawing/2014/main" id="{6A06047E-866B-6066-8D7D-68D104908D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1965" y="691964"/>
            <a:ext cx="6920426" cy="571410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5A3EC3E-8438-0603-4DAC-3D0AF6C10096}"/>
              </a:ext>
            </a:extLst>
          </p:cNvPr>
          <p:cNvSpPr txBox="1"/>
          <p:nvPr/>
        </p:nvSpPr>
        <p:spPr>
          <a:xfrm>
            <a:off x="116503" y="161365"/>
            <a:ext cx="4226897" cy="646331"/>
          </a:xfrm>
          <a:prstGeom prst="rect">
            <a:avLst/>
          </a:prstGeom>
          <a:noFill/>
        </p:spPr>
        <p:txBody>
          <a:bodyPr wrap="square" rtlCol="0">
            <a:spAutoFit/>
          </a:bodyPr>
          <a:lstStyle/>
          <a:p>
            <a:pPr algn="ctr"/>
            <a:r>
              <a:rPr lang="en-GB" sz="3600" dirty="0"/>
              <a:t>RESULTS</a:t>
            </a:r>
            <a:r>
              <a:rPr lang="en-GB" dirty="0"/>
              <a:t> </a:t>
            </a:r>
            <a:endParaRPr lang="en-IN" dirty="0"/>
          </a:p>
        </p:txBody>
      </p:sp>
    </p:spTree>
    <p:extLst>
      <p:ext uri="{BB962C8B-B14F-4D97-AF65-F5344CB8AC3E}">
        <p14:creationId xmlns:p14="http://schemas.microsoft.com/office/powerpoint/2010/main" val="12605316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FDA3458-D921-D391-0BDC-6CDBB87BA8C6}"/>
              </a:ext>
            </a:extLst>
          </p:cNvPr>
          <p:cNvSpPr>
            <a:spLocks noGrp="1"/>
          </p:cNvSpPr>
          <p:nvPr>
            <p:ph type="sldNum" sz="quarter" idx="12"/>
          </p:nvPr>
        </p:nvSpPr>
        <p:spPr/>
        <p:txBody>
          <a:bodyPr/>
          <a:lstStyle/>
          <a:p>
            <a:fld id="{D57F1E4F-1CFF-5643-939E-217C01CDF565}" type="slidenum">
              <a:rPr lang="en-US" smtClean="0"/>
              <a:pPr/>
              <a:t>12</a:t>
            </a:fld>
            <a:endParaRPr lang="en-US" dirty="0"/>
          </a:p>
        </p:txBody>
      </p:sp>
      <p:sp>
        <p:nvSpPr>
          <p:cNvPr id="5" name="Title 3">
            <a:extLst>
              <a:ext uri="{FF2B5EF4-FFF2-40B4-BE49-F238E27FC236}">
                <a16:creationId xmlns:a16="http://schemas.microsoft.com/office/drawing/2014/main" id="{9D7A28D8-A57B-8858-C4C0-256EBCA334B9}"/>
              </a:ext>
            </a:extLst>
          </p:cNvPr>
          <p:cNvSpPr txBox="1">
            <a:spLocks/>
          </p:cNvSpPr>
          <p:nvPr/>
        </p:nvSpPr>
        <p:spPr>
          <a:xfrm>
            <a:off x="494642" y="321817"/>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4000" dirty="0">
                <a:solidFill>
                  <a:schemeClr val="tx1"/>
                </a:solidFill>
              </a:rPr>
              <a:t>RESULTS</a:t>
            </a:r>
            <a:r>
              <a:rPr lang="en-GB" dirty="0"/>
              <a:t> </a:t>
            </a:r>
            <a:endParaRPr lang="en-IN" dirty="0"/>
          </a:p>
        </p:txBody>
      </p:sp>
      <p:pic>
        <p:nvPicPr>
          <p:cNvPr id="4098" name="Picture 2">
            <a:extLst>
              <a:ext uri="{FF2B5EF4-FFF2-40B4-BE49-F238E27FC236}">
                <a16:creationId xmlns:a16="http://schemas.microsoft.com/office/drawing/2014/main" id="{28B0B6E8-126C-73E3-AAE4-D775E8F83D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78539" y="145645"/>
            <a:ext cx="6542938" cy="652409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43EEF4B6-BD12-3CF8-8E95-55BD4EEF1892}"/>
              </a:ext>
            </a:extLst>
          </p:cNvPr>
          <p:cNvPicPr>
            <a:picLocks noChangeAspect="1"/>
          </p:cNvPicPr>
          <p:nvPr/>
        </p:nvPicPr>
        <p:blipFill>
          <a:blip r:embed="rId3"/>
          <a:stretch>
            <a:fillRect/>
          </a:stretch>
        </p:blipFill>
        <p:spPr>
          <a:xfrm>
            <a:off x="170523" y="1349796"/>
            <a:ext cx="5006595" cy="5319945"/>
          </a:xfrm>
          <a:prstGeom prst="rect">
            <a:avLst/>
          </a:prstGeom>
        </p:spPr>
      </p:pic>
    </p:spTree>
    <p:extLst>
      <p:ext uri="{BB962C8B-B14F-4D97-AF65-F5344CB8AC3E}">
        <p14:creationId xmlns:p14="http://schemas.microsoft.com/office/powerpoint/2010/main" val="3405547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613FB-30C5-059A-42DF-43D567778DA0}"/>
              </a:ext>
            </a:extLst>
          </p:cNvPr>
          <p:cNvSpPr>
            <a:spLocks noGrp="1"/>
          </p:cNvSpPr>
          <p:nvPr>
            <p:ph type="title"/>
          </p:nvPr>
        </p:nvSpPr>
        <p:spPr>
          <a:xfrm>
            <a:off x="677334" y="609600"/>
            <a:ext cx="2549960" cy="654424"/>
          </a:xfrm>
        </p:spPr>
        <p:txBody>
          <a:bodyPr/>
          <a:lstStyle/>
          <a:p>
            <a:r>
              <a:rPr lang="en-GB" dirty="0">
                <a:solidFill>
                  <a:schemeClr val="tx1"/>
                </a:solidFill>
              </a:rPr>
              <a:t>RESULTS</a:t>
            </a:r>
            <a:endParaRPr lang="en-IN" dirty="0"/>
          </a:p>
        </p:txBody>
      </p:sp>
      <p:sp>
        <p:nvSpPr>
          <p:cNvPr id="4" name="Slide Number Placeholder 3">
            <a:extLst>
              <a:ext uri="{FF2B5EF4-FFF2-40B4-BE49-F238E27FC236}">
                <a16:creationId xmlns:a16="http://schemas.microsoft.com/office/drawing/2014/main" id="{B203DC6A-4E59-2796-FB79-0BD09EF15A5A}"/>
              </a:ext>
            </a:extLst>
          </p:cNvPr>
          <p:cNvSpPr>
            <a:spLocks noGrp="1"/>
          </p:cNvSpPr>
          <p:nvPr>
            <p:ph type="sldNum" sz="quarter" idx="12"/>
          </p:nvPr>
        </p:nvSpPr>
        <p:spPr/>
        <p:txBody>
          <a:bodyPr/>
          <a:lstStyle/>
          <a:p>
            <a:fld id="{D57F1E4F-1CFF-5643-939E-217C01CDF565}" type="slidenum">
              <a:rPr lang="en-US" smtClean="0"/>
              <a:pPr/>
              <a:t>13</a:t>
            </a:fld>
            <a:endParaRPr lang="en-US" dirty="0"/>
          </a:p>
        </p:txBody>
      </p:sp>
      <p:pic>
        <p:nvPicPr>
          <p:cNvPr id="5124" name="Picture 4">
            <a:extLst>
              <a:ext uri="{FF2B5EF4-FFF2-40B4-BE49-F238E27FC236}">
                <a16:creationId xmlns:a16="http://schemas.microsoft.com/office/drawing/2014/main" id="{17CD3645-225C-233A-5EDB-42A6C3360B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0942" y="221071"/>
            <a:ext cx="7224220" cy="6515906"/>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F85160EF-35AE-0AEF-EE35-BFB506DBF760}"/>
              </a:ext>
            </a:extLst>
          </p:cNvPr>
          <p:cNvPicPr>
            <a:picLocks noChangeAspect="1"/>
          </p:cNvPicPr>
          <p:nvPr/>
        </p:nvPicPr>
        <p:blipFill>
          <a:blip r:embed="rId3"/>
          <a:stretch>
            <a:fillRect/>
          </a:stretch>
        </p:blipFill>
        <p:spPr>
          <a:xfrm>
            <a:off x="126838" y="1264024"/>
            <a:ext cx="4553585" cy="5472952"/>
          </a:xfrm>
          <a:prstGeom prst="rect">
            <a:avLst/>
          </a:prstGeom>
        </p:spPr>
      </p:pic>
    </p:spTree>
    <p:extLst>
      <p:ext uri="{BB962C8B-B14F-4D97-AF65-F5344CB8AC3E}">
        <p14:creationId xmlns:p14="http://schemas.microsoft.com/office/powerpoint/2010/main" val="26125448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820A7650-4A19-6B21-9365-C9076249B85D}"/>
              </a:ext>
            </a:extLst>
          </p:cNvPr>
          <p:cNvSpPr txBox="1"/>
          <p:nvPr/>
        </p:nvSpPr>
        <p:spPr>
          <a:xfrm>
            <a:off x="447357" y="1275371"/>
            <a:ext cx="9221078" cy="4431983"/>
          </a:xfrm>
          <a:prstGeom prst="rect">
            <a:avLst/>
          </a:prstGeom>
          <a:noFill/>
        </p:spPr>
        <p:txBody>
          <a:bodyPr wrap="square" rtlCol="0">
            <a:spAutoFit/>
          </a:bodyPr>
          <a:lstStyle/>
          <a:p>
            <a:r>
              <a:rPr lang="en-US" sz="2200" b="1" dirty="0"/>
              <a:t>Crop Recommendation System – </a:t>
            </a:r>
            <a:r>
              <a:rPr lang="en-US" sz="2200" b="1" dirty="0">
                <a:solidFill>
                  <a:schemeClr val="tx1">
                    <a:lumMod val="75000"/>
                    <a:lumOff val="25000"/>
                  </a:schemeClr>
                </a:solidFill>
              </a:rPr>
              <a:t>By suggesting suitable crops on the basis of soil , weather and seasonal conditions.</a:t>
            </a:r>
          </a:p>
          <a:p>
            <a:endParaRPr lang="en-US" sz="2200" b="1" dirty="0"/>
          </a:p>
          <a:p>
            <a:r>
              <a:rPr lang="en-IN" sz="2200" b="1" dirty="0"/>
              <a:t>Real Time Data Integration – </a:t>
            </a:r>
            <a:r>
              <a:rPr lang="en-IN" sz="2200" b="1" dirty="0">
                <a:solidFill>
                  <a:schemeClr val="tx1">
                    <a:lumMod val="75000"/>
                    <a:lumOff val="25000"/>
                  </a:schemeClr>
                </a:solidFill>
              </a:rPr>
              <a:t>It can enhance the analysis by including market prices , live weather and agricultural data.</a:t>
            </a:r>
          </a:p>
          <a:p>
            <a:endParaRPr lang="en-IN" sz="2200" b="1" dirty="0">
              <a:solidFill>
                <a:schemeClr val="tx1">
                  <a:lumMod val="75000"/>
                  <a:lumOff val="25000"/>
                </a:schemeClr>
              </a:solidFill>
            </a:endParaRPr>
          </a:p>
          <a:p>
            <a:r>
              <a:rPr lang="en-IN" sz="2200" b="1" dirty="0"/>
              <a:t>Weather Forecasting Integration – </a:t>
            </a:r>
            <a:r>
              <a:rPr lang="en-IN" sz="2200" b="1" dirty="0">
                <a:solidFill>
                  <a:schemeClr val="tx1">
                    <a:lumMod val="75000"/>
                    <a:lumOff val="25000"/>
                  </a:schemeClr>
                </a:solidFill>
              </a:rPr>
              <a:t>By including future weather data we can enhance the farming decisions. </a:t>
            </a:r>
          </a:p>
          <a:p>
            <a:endParaRPr lang="en-IN" sz="2200" b="1" dirty="0"/>
          </a:p>
          <a:p>
            <a:r>
              <a:rPr lang="en-IN" sz="2200" b="1" dirty="0"/>
              <a:t>Predictive Analysis – </a:t>
            </a:r>
            <a:r>
              <a:rPr lang="en-IN" sz="2200" b="1" dirty="0">
                <a:solidFill>
                  <a:schemeClr val="tx1">
                    <a:lumMod val="75000"/>
                    <a:lumOff val="25000"/>
                  </a:schemeClr>
                </a:solidFill>
              </a:rPr>
              <a:t>We can use machine learning models to predict future crop yields , production and can easily predict future profits or losses.</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BE312A8F-AC9E-2104-8977-90B1AAF26E33}"/>
              </a:ext>
            </a:extLst>
          </p:cNvPr>
          <p:cNvSpPr txBox="1"/>
          <p:nvPr/>
        </p:nvSpPr>
        <p:spPr>
          <a:xfrm>
            <a:off x="447357" y="1287341"/>
            <a:ext cx="8373914" cy="369332"/>
          </a:xfrm>
          <a:prstGeom prst="rect">
            <a:avLst/>
          </a:prstGeom>
          <a:noFill/>
        </p:spPr>
        <p:txBody>
          <a:bodyPr wrap="square" rtlCol="0">
            <a:spAutoFit/>
          </a:bodyPr>
          <a:lstStyle/>
          <a:p>
            <a:r>
              <a:rPr lang="en-IN" dirty="0"/>
              <a:t>https://github.com/prajjwalk-3016/seasonal-agriculture-performance-analysis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9522265" cy="4910276"/>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EB0C8664-372C-E4F1-C688-B407332EAAB2}"/>
              </a:ext>
            </a:extLst>
          </p:cNvPr>
          <p:cNvPicPr>
            <a:picLocks noChangeAspect="1"/>
          </p:cNvPicPr>
          <p:nvPr/>
        </p:nvPicPr>
        <p:blipFill>
          <a:blip r:embed="rId3"/>
          <a:stretch>
            <a:fillRect/>
          </a:stretch>
        </p:blipFill>
        <p:spPr>
          <a:xfrm>
            <a:off x="1876805" y="1275370"/>
            <a:ext cx="8638795" cy="5196549"/>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237128" y="2195312"/>
            <a:ext cx="8350625" cy="1541825"/>
          </a:xfrm>
          <a:prstGeom prst="rect">
            <a:avLst/>
          </a:prstGeom>
        </p:spPr>
        <p:txBody>
          <a:bodyPr anchor="ctr">
            <a:noAutofit/>
          </a:bodyPr>
          <a:lstStyle/>
          <a:p>
            <a:pPr algn="ctr"/>
            <a:r>
              <a:rPr lang="en-US" sz="54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713</TotalTime>
  <Words>477</Words>
  <Application>Microsoft Office PowerPoint</Application>
  <PresentationFormat>Widescreen</PresentationFormat>
  <Paragraphs>49</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Trebuchet MS</vt:lpstr>
      <vt:lpstr>Wingdings</vt:lpstr>
      <vt:lpstr>Wingdings 3</vt:lpstr>
      <vt:lpstr>Facet</vt:lpstr>
      <vt:lpstr>Project Title - Seasonal Agriculture Performance Analysis </vt:lpstr>
      <vt:lpstr>PROBLEM  STATEMENT</vt:lpstr>
      <vt:lpstr>Project Description   </vt:lpstr>
      <vt:lpstr>WHO ARE THE END USERS?</vt:lpstr>
      <vt:lpstr>Technology Used</vt:lpstr>
      <vt:lpstr>RESULTS </vt:lpstr>
      <vt:lpstr>RESULTS </vt:lpstr>
      <vt:lpstr>RESULTS </vt:lpstr>
      <vt:lpstr>RESULTS </vt:lpstr>
      <vt:lpstr>RESULTS </vt:lpstr>
      <vt:lpstr>PowerPoint Presentation</vt:lpstr>
      <vt:lpstr>PowerPoint Presentation</vt:lpstr>
      <vt:lpstr>RESULTS</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prajjwal katiyar</cp:lastModifiedBy>
  <cp:revision>103</cp:revision>
  <dcterms:created xsi:type="dcterms:W3CDTF">2021-07-11T13:13:15Z</dcterms:created>
  <dcterms:modified xsi:type="dcterms:W3CDTF">2026-09-07T06:47:47Z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